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6858000"/>
  <p:notesSz cx="7559675" cy="106918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11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BODY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8760" y="272520"/>
            <a:ext cx="1097100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buNone/>
            </a:pPr>
            <a:r>
              <a:rPr lang="ru-RU" sz="3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8760" y="272520"/>
            <a:ext cx="1097100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buNone/>
            </a:pPr>
            <a:r>
              <a:rPr lang="ru-RU" sz="37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8760" y="160380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61;p15"/>
          <p:cNvSpPr/>
          <p:nvPr/>
        </p:nvSpPr>
        <p:spPr>
          <a:xfrm>
            <a:off x="5834160" y="2407320"/>
            <a:ext cx="5006880" cy="72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000" b="1" u="none" strike="noStrike">
                <a:solidFill>
                  <a:srgbClr val="FFFFFF"/>
                </a:solidFill>
                <a:effectLst/>
                <a:uFillTx/>
                <a:latin typeface="Tahoma"/>
                <a:ea typeface="Tahoma"/>
              </a:rPr>
              <a:t>Лимонадный аппарат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Google Shape;62;p15"/>
          <p:cNvSpPr/>
          <p:nvPr/>
        </p:nvSpPr>
        <p:spPr>
          <a:xfrm>
            <a:off x="5834160" y="3488040"/>
            <a:ext cx="6850440" cy="336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ru-RU" sz="22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Авторы проекта: </a:t>
            </a:r>
            <a:endParaRPr lang="ru-RU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ru-RU" sz="2200" dirty="0">
                <a:solidFill>
                  <a:schemeClr val="dk1"/>
                </a:solidFill>
                <a:latin typeface="Arial"/>
                <a:ea typeface="Arial"/>
              </a:rPr>
              <a:t>«</a:t>
            </a:r>
            <a:r>
              <a:rPr lang="en-US" sz="2200" dirty="0">
                <a:solidFill>
                  <a:schemeClr val="dk1"/>
                </a:solidFill>
                <a:latin typeface="Arial"/>
                <a:ea typeface="Arial"/>
              </a:rPr>
              <a:t>8</a:t>
            </a:r>
            <a:r>
              <a:rPr lang="ru-RU" sz="2200" dirty="0">
                <a:solidFill>
                  <a:schemeClr val="dk1"/>
                </a:solidFill>
                <a:latin typeface="Arial"/>
                <a:ea typeface="Arial"/>
              </a:rPr>
              <a:t>Д»</a:t>
            </a:r>
            <a:r>
              <a:rPr lang="ru-RU" sz="22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класс ГБОУ Школа №618</a:t>
            </a:r>
            <a:endParaRPr lang="ru-RU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ru-RU" dirty="0">
                <a:latin typeface="quote-cjk-patch"/>
              </a:rPr>
              <a:t>Нураков Данакер </a:t>
            </a:r>
          </a:p>
          <a:p>
            <a:r>
              <a:rPr lang="ru-RU" dirty="0">
                <a:latin typeface="quote-cjk-patch"/>
              </a:rPr>
              <a:t>Мирзоян Рубен </a:t>
            </a:r>
          </a:p>
          <a:p>
            <a:r>
              <a:rPr lang="ru-RU" dirty="0">
                <a:latin typeface="quote-cjk-patch"/>
              </a:rPr>
              <a:t>Бекасов Евгений</a:t>
            </a:r>
            <a:br>
              <a:rPr sz="1800" dirty="0"/>
            </a:br>
            <a:r>
              <a:rPr lang="ru-RU" sz="22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Руководитель проекта: </a:t>
            </a:r>
            <a:br>
              <a:rPr sz="1800" dirty="0"/>
            </a:br>
            <a:r>
              <a:rPr lang="ru-RU" sz="22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учитель информатики ГБОУ Школа №618 </a:t>
            </a:r>
            <a:br>
              <a:rPr sz="1800" dirty="0"/>
            </a:br>
            <a:r>
              <a:rPr lang="ru-RU" sz="22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Баранов Михаил Сергеевич	</a:t>
            </a:r>
            <a:endParaRPr lang="ru-RU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Google Shape;63;p15"/>
          <p:cNvSpPr/>
          <p:nvPr/>
        </p:nvSpPr>
        <p:spPr>
          <a:xfrm>
            <a:off x="392040" y="4710960"/>
            <a:ext cx="5442120" cy="21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2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Консультант проекта: </a:t>
            </a:r>
            <a:br>
              <a:rPr sz="1800" dirty="0"/>
            </a:br>
            <a:r>
              <a:rPr lang="ru-RU" sz="22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учебный мастер Детский технопарк </a:t>
            </a:r>
            <a:br>
              <a:rPr sz="1800" dirty="0"/>
            </a:br>
            <a:r>
              <a:rPr lang="ru-RU" sz="22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“СМАРТ-ПАРК” НИУ МИЭТ</a:t>
            </a:r>
            <a:endParaRPr lang="ru-RU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22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Курбатов Матвей Анатольев</a:t>
            </a:r>
            <a:r>
              <a:rPr lang="ru-RU" sz="2200" b="0" u="none" strike="noStrike" dirty="0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ич</a:t>
            </a:r>
            <a:endParaRPr lang="ru-RU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Рисунок 5"/>
          <p:cNvPicPr/>
          <p:nvPr/>
        </p:nvPicPr>
        <p:blipFill>
          <a:blip r:embed="rId2"/>
          <a:stretch/>
        </p:blipFill>
        <p:spPr>
          <a:xfrm>
            <a:off x="618480" y="254160"/>
            <a:ext cx="1249560" cy="1237320"/>
          </a:xfrm>
          <a:prstGeom prst="rect">
            <a:avLst/>
          </a:prstGeom>
          <a:solidFill>
            <a:srgbClr val="EDEDED"/>
          </a:solidFill>
          <a:ln w="88900" cap="sq">
            <a:solidFill>
              <a:srgbClr val="FFFFFF"/>
            </a:solidFill>
            <a:miter/>
          </a:ln>
          <a:effectLst>
            <a:outerShdw blurRad="5508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Прямоугольник 1"/>
          <p:cNvSpPr/>
          <p:nvPr/>
        </p:nvSpPr>
        <p:spPr>
          <a:xfrm>
            <a:off x="2351520" y="376560"/>
            <a:ext cx="7992360" cy="1015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Государственное бюджетное общеобразовательное учреждение города Москвы «Школа № 618»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Box 7"/>
          <p:cNvSpPr/>
          <p:nvPr/>
        </p:nvSpPr>
        <p:spPr>
          <a:xfrm>
            <a:off x="1243440" y="1701000"/>
            <a:ext cx="879804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799"/>
              </a:spcAft>
            </a:pPr>
            <a:r>
              <a:rPr lang="ru-RU" sz="2400" b="1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«</a:t>
            </a:r>
            <a:r>
              <a:rPr lang="ru-RU" sz="7200" dirty="0">
                <a:latin typeface="+mj-lt"/>
              </a:rPr>
              <a:t>Чат-Бот в </a:t>
            </a:r>
            <a:r>
              <a:rPr lang="en-US" sz="7200" dirty="0">
                <a:latin typeface="+mj-lt"/>
              </a:rPr>
              <a:t>Telegram</a:t>
            </a:r>
            <a:r>
              <a:rPr lang="ru-RU" sz="2400" b="1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"</a:t>
            </a:r>
            <a:endParaRPr lang="ru-RU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68;p16"/>
          <p:cNvSpPr/>
          <p:nvPr/>
        </p:nvSpPr>
        <p:spPr>
          <a:xfrm>
            <a:off x="348120" y="-102240"/>
            <a:ext cx="10971720" cy="151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-RU" sz="532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Актуальность</a:t>
            </a:r>
            <a:endParaRPr lang="ru-RU" sz="5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69;p16"/>
          <p:cNvSpPr/>
          <p:nvPr/>
        </p:nvSpPr>
        <p:spPr>
          <a:xfrm>
            <a:off x="407520" y="1409760"/>
            <a:ext cx="7176990" cy="32749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Потеря информации о ДЗ в чатах и на листочках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Сложность отслеживания изменений в расписании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Отсутствие единого места для учебных материалов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3200" b="0" i="0" dirty="0">
                <a:effectLst/>
                <a:latin typeface="quote-cjk-patch"/>
              </a:rPr>
              <a:t>Единая автоматизированная система в привычном мессенджере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sz="3200" b="0" i="0" dirty="0"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3200" b="0" i="0" dirty="0">
              <a:effectLst/>
              <a:latin typeface="quote-cjk-patch"/>
            </a:endParaRPr>
          </a:p>
          <a:p>
            <a:pPr>
              <a:lnSpc>
                <a:spcPct val="150000"/>
              </a:lnSpc>
            </a:pPr>
            <a:endParaRPr lang="ru-RU" sz="2000" b="0" u="none" strike="noStrike" dirty="0"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68;p16"/>
          <p:cNvSpPr/>
          <p:nvPr/>
        </p:nvSpPr>
        <p:spPr>
          <a:xfrm>
            <a:off x="348120" y="-102240"/>
            <a:ext cx="10971720" cy="151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/>
            <a:r>
              <a:rPr lang="ru-RU" sz="4400" dirty="0"/>
              <a:t>Аналогичные проекты</a:t>
            </a:r>
          </a:p>
        </p:txBody>
      </p:sp>
      <p:sp>
        <p:nvSpPr>
          <p:cNvPr id="11" name="Google Shape;69;p16"/>
          <p:cNvSpPr/>
          <p:nvPr/>
        </p:nvSpPr>
        <p:spPr>
          <a:xfrm>
            <a:off x="407520" y="1409760"/>
            <a:ext cx="6530400" cy="21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ru-RU" sz="2000" dirty="0"/>
              <a:t>готовые платформы</a:t>
            </a:r>
            <a:br>
              <a:rPr lang="en-US" sz="2000" dirty="0">
                <a:solidFill>
                  <a:srgbClr val="000000"/>
                </a:solidFill>
                <a:latin typeface="Arial"/>
              </a:rPr>
            </a:br>
            <a:endParaRPr lang="ru-RU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0250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83;p18"/>
          <p:cNvSpPr/>
          <p:nvPr/>
        </p:nvSpPr>
        <p:spPr>
          <a:xfrm>
            <a:off x="217080" y="3122640"/>
            <a:ext cx="12312360" cy="462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l">
              <a:buFont typeface="+mj-lt"/>
              <a:buAutoNum type="arabicPeriod"/>
            </a:pPr>
            <a:r>
              <a:rPr lang="ru-RU" b="1" i="0" dirty="0">
                <a:effectLst/>
                <a:latin typeface="quote-cjk-patch"/>
              </a:rPr>
              <a:t>Разработать</a:t>
            </a:r>
            <a:r>
              <a:rPr lang="ru-RU" b="0" i="0" dirty="0">
                <a:effectLst/>
                <a:latin typeface="quote-cjk-patch"/>
              </a:rPr>
              <a:t> архитектуру и схему работы бота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effectLst/>
                <a:latin typeface="quote-cjk-patch"/>
              </a:rPr>
              <a:t>Реализовать</a:t>
            </a:r>
            <a:r>
              <a:rPr lang="ru-RU" b="0" i="0" dirty="0">
                <a:effectLst/>
                <a:latin typeface="quote-cjk-patch"/>
              </a:rPr>
              <a:t> функции: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effectLst/>
                <a:latin typeface="quote-cjk-patch"/>
              </a:rPr>
              <a:t>Хранение и отображение расписания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effectLst/>
                <a:latin typeface="quote-cjk-patch"/>
              </a:rPr>
              <a:t>Ведение списка домашних заданий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b="0" i="0" dirty="0">
                <a:effectLst/>
                <a:latin typeface="quote-cjk-patch"/>
              </a:rPr>
              <a:t>Систему уведомлений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effectLst/>
                <a:latin typeface="quote-cjk-patch"/>
              </a:rPr>
              <a:t>Создать</a:t>
            </a:r>
            <a:r>
              <a:rPr lang="ru-RU" b="0" i="0" dirty="0">
                <a:effectLst/>
                <a:latin typeface="quote-cjk-patch"/>
              </a:rPr>
              <a:t> интуитивно понятный интерфейс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effectLst/>
                <a:latin typeface="quote-cjk-patch"/>
              </a:rPr>
              <a:t>Обеспечить</a:t>
            </a:r>
            <a:r>
              <a:rPr lang="ru-RU" b="0" i="0" dirty="0">
                <a:effectLst/>
                <a:latin typeface="quote-cjk-patch"/>
              </a:rPr>
              <a:t> разный уровень доступа (ученик/учитель/родитель)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effectLst/>
                <a:latin typeface="quote-cjk-patch"/>
              </a:rPr>
              <a:t>Протестировать</a:t>
            </a:r>
            <a:r>
              <a:rPr lang="ru-RU" b="0" i="0" dirty="0">
                <a:effectLst/>
                <a:latin typeface="quote-cjk-patch"/>
              </a:rPr>
              <a:t> работу всех функций</a:t>
            </a:r>
          </a:p>
          <a:p>
            <a:pPr marL="457200" indent="-457200">
              <a:lnSpc>
                <a:spcPct val="114000"/>
              </a:lnSpc>
              <a:buClr>
                <a:srgbClr val="000000"/>
              </a:buClr>
              <a:buFont typeface="Arial"/>
              <a:buAutoNum type="arabicPeriod"/>
            </a:pPr>
            <a:endParaRPr lang="ru-RU" sz="20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19" name="Google Shape;84;p18"/>
          <p:cNvSpPr/>
          <p:nvPr/>
        </p:nvSpPr>
        <p:spPr>
          <a:xfrm>
            <a:off x="384120" y="908640"/>
            <a:ext cx="11423160" cy="134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ru-RU" b="0" i="0" dirty="0">
                <a:effectLst/>
                <a:latin typeface="quote-cjk-patch"/>
              </a:rPr>
              <a:t>Создать удобный и функциональный Telegram-бот для автоматизации доступа к школьному расписанию и домашним заданиям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ru-RU" sz="18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20" name="Google Shape;85;p18"/>
          <p:cNvSpPr/>
          <p:nvPr/>
        </p:nvSpPr>
        <p:spPr>
          <a:xfrm>
            <a:off x="3458520" y="227160"/>
            <a:ext cx="4789080" cy="870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-RU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Цель: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86;p18"/>
          <p:cNvSpPr/>
          <p:nvPr/>
        </p:nvSpPr>
        <p:spPr>
          <a:xfrm>
            <a:off x="5007600" y="2400840"/>
            <a:ext cx="2176560" cy="117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Задачи: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8760" y="272520"/>
            <a:ext cx="1097100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ru-RU" sz="37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Алгоритм работы программы</a:t>
            </a:r>
            <a:endParaRPr lang="ru-RU" sz="3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BAF8B1-A623-49BB-A6DF-6A6DCC08FC7B}"/>
              </a:ext>
            </a:extLst>
          </p:cNvPr>
          <p:cNvSpPr>
            <a:spLocks noGrp="1" noChangeArrowheads="1"/>
          </p:cNvSpPr>
          <p:nvPr>
            <p:ph/>
          </p:nvPr>
        </p:nvSpPr>
        <p:spPr bwMode="auto">
          <a:xfrm>
            <a:off x="608013" y="1606560"/>
            <a:ext cx="10630924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 Подготовка данных (БД)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Таблица пользователей: ID, класс, роль (ученик/редактор).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Таблица расписания: День недели, номер урока, предмет, кабинет.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Таблица заданий: Предмет, текст задания, дата дедлайна.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Регистрация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Пользователь пишет </a:t>
            </a: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/start</a:t>
            </a: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ru-RU" altLang="ru-RU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Выбирает свой класс из списка.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Бот сохраняет его ID, чтобы в будущем отдавать только релевантные данные.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 Основной цикл (Запрос — Ответ)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Запрос расписания: Пользователь жмет «На сегодня/завтра» → Бот берет текущую дату → Ищет уроки в БД для этого класса → Выдает список.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Запрос ДЗ: Пользователь выбирает предмет → Бот ищет последнюю запись в таблице заданий → Выдает текст.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Администрирование (для старост)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Проверка прав (по паролю или ID).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Команда </a:t>
            </a: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/add_hw</a:t>
            </a: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→ Выбор предмета → Ввод текста → Запись в базу.</a:t>
            </a:r>
            <a:endParaRPr kumimoji="0" lang="ru-RU" altLang="ru-RU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5. Автоматика (Уведомления)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Таймер: Каждый вечер (например, в 18:00) бот сам рассылает список дел на завтра всем подписанным ученикам.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91;p19"/>
          <p:cNvSpPr/>
          <p:nvPr/>
        </p:nvSpPr>
        <p:spPr>
          <a:xfrm>
            <a:off x="508320" y="208080"/>
            <a:ext cx="12017880" cy="118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6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Интерфейс программы</a:t>
            </a:r>
            <a:endParaRPr lang="ru-RU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A6C9FC-ABE0-453C-9ADB-5D7CFB196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5856" y="1395362"/>
            <a:ext cx="2009279" cy="31566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5250B1-ECD9-4D22-956F-DA8ED64FD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502" y="1395359"/>
            <a:ext cx="2009280" cy="3156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33AFCA-8B15-4CB5-87D1-15C8532EE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9148" y="1395359"/>
            <a:ext cx="2009280" cy="3156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3EF298-38E8-4486-B614-E0FD26EF0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40" y="1395358"/>
            <a:ext cx="2009280" cy="31566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103;p21"/>
          <p:cNvSpPr/>
          <p:nvPr/>
        </p:nvSpPr>
        <p:spPr>
          <a:xfrm>
            <a:off x="364320" y="176400"/>
            <a:ext cx="7181640" cy="63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Монтажная схема</a:t>
            </a: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564637-2052-421F-B448-00510B305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031" y="1321496"/>
            <a:ext cx="2233298" cy="510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0C625A-B10E-4EAB-8409-15345AF5AE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8515" y="1163354"/>
            <a:ext cx="2219777" cy="52609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115D69-5C7C-476E-BC5E-7E03BE99A5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849" y="1092896"/>
            <a:ext cx="2657327" cy="540184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2285AD-B390-4214-A8E6-CC75B8EE5D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2468" y="1161242"/>
            <a:ext cx="3559532" cy="52630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109;p22"/>
          <p:cNvSpPr/>
          <p:nvPr/>
        </p:nvSpPr>
        <p:spPr>
          <a:xfrm>
            <a:off x="241560" y="5076360"/>
            <a:ext cx="13270680" cy="1339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36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4" name="Google Shape;111;p22"/>
          <p:cNvSpPr/>
          <p:nvPr/>
        </p:nvSpPr>
        <p:spPr>
          <a:xfrm>
            <a:off x="499916" y="229264"/>
            <a:ext cx="7843984" cy="94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6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Электрическая схема</a:t>
            </a:r>
            <a:endParaRPr lang="ru-RU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116;p23"/>
          <p:cNvSpPr/>
          <p:nvPr/>
        </p:nvSpPr>
        <p:spPr>
          <a:xfrm>
            <a:off x="307800" y="178920"/>
            <a:ext cx="8925480" cy="117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ru-RU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Описание проекта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117;p23"/>
          <p:cNvSpPr/>
          <p:nvPr/>
        </p:nvSpPr>
        <p:spPr>
          <a:xfrm>
            <a:off x="682920" y="1339920"/>
            <a:ext cx="5677920" cy="6441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ru-RU" sz="2800" dirty="0"/>
              <a:t>Интеллектуальный Telegram-бот для автоматизации школьного процесса. Позволяет ученикам мгновенно получать актуальное расписание уроков и текст домашнего задания прямо в мессенджере.</a:t>
            </a:r>
            <a:endParaRPr lang="ru-RU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116;p23"/>
          <p:cNvSpPr/>
          <p:nvPr/>
        </p:nvSpPr>
        <p:spPr>
          <a:xfrm>
            <a:off x="593820" y="174781"/>
            <a:ext cx="8925480" cy="117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2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Список используемых компонентов</a:t>
            </a:r>
            <a:endParaRPr lang="ru-RU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ru-RU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Rectangle 15">
            <a:extLst>
              <a:ext uri="{FF2B5EF4-FFF2-40B4-BE49-F238E27FC236}">
                <a16:creationId xmlns:a16="http://schemas.microsoft.com/office/drawing/2014/main" id="{7D592FE1-05C9-40D2-836A-54B157054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" y="754499"/>
            <a:ext cx="10081350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9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 Системные пакеты (установка через </a:t>
            </a:r>
            <a:r>
              <a:rPr kumimoji="0" lang="ru-RU" altLang="ru-RU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pkg</a:t>
            </a:r>
            <a:r>
              <a:rPr kumimoji="0" lang="ru-RU" altLang="ru-RU" sz="9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ru-RU" altLang="ru-RU" sz="9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Прежде чем переходить к коду, нужно подготовить окружение в терминале Termux:</a:t>
            </a:r>
            <a:endParaRPr kumimoji="0" lang="ru-RU" altLang="ru-RU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Python: Основа разработки.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pkg install python</a:t>
            </a:r>
            <a:endParaRPr kumimoji="0" lang="ru-RU" altLang="ru-RU" sz="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Git: Для клонирования репозиториев или сохранения кода на GitHub.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pkg install git</a:t>
            </a:r>
            <a:endParaRPr kumimoji="0" lang="ru-RU" altLang="ru-RU" sz="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Текстовый редактор: Для написания кода прямо в консоли.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pkg install nano</a:t>
            </a:r>
            <a:r>
              <a:rPr kumimoji="0" lang="ru-RU" altLang="ru-RU" sz="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(простой) или </a:t>
            </a:r>
            <a:r>
              <a:rPr kumimoji="0" lang="ru-RU" altLang="ru-RU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pkg install neovim</a:t>
            </a:r>
            <a:r>
              <a:rPr kumimoji="0" lang="ru-RU" altLang="ru-RU" sz="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(продвинутый).</a:t>
            </a:r>
            <a:endParaRPr kumimoji="0" lang="ru-RU" altLang="ru-RU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Инструменты сборки: Необходимы для корректной установки некоторых Python-библиотек.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pkg install clang python-dev libcrypt-dev</a:t>
            </a:r>
            <a:endParaRPr kumimoji="0" lang="ru-RU" altLang="ru-RU" sz="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7">
            <a:extLst>
              <a:ext uri="{FF2B5EF4-FFF2-40B4-BE49-F238E27FC236}">
                <a16:creationId xmlns:a16="http://schemas.microsoft.com/office/drawing/2014/main" id="{C22C5602-2AF4-4419-B35A-C6B2BF2EE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" y="2827914"/>
            <a:ext cx="12084050" cy="1877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Python-библиотеки (установка через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pip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Эти модули отвечают за логику бота и его связь с серверами Telegram: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Библиотека для бота: *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aiogram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(современная, асинхронная) или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python-telegram-bot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(классическая с мощным сообществом).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Работа с базой данных: *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aiosqlite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(для асинхронной работы с SQLite) или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SQLAlchemy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(если планируете сложную структуру данных).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Планировщик задач: Для отправки ежедневных напоминаний о ДЗ.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apscheduler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(позволяет запускать функции в определенное время).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Работа с датами: *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datetime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(встроено в Python) для определения текущего дня недели.</a:t>
            </a:r>
            <a:endParaRPr kumimoji="0" lang="ru-RU" altLang="ru-RU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Rectangle 19">
            <a:extLst>
              <a:ext uri="{FF2B5EF4-FFF2-40B4-BE49-F238E27FC236}">
                <a16:creationId xmlns:a16="http://schemas.microsoft.com/office/drawing/2014/main" id="{2EEBFC88-4465-456A-9743-E681D087C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" y="4567420"/>
            <a:ext cx="1208405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 База данных (встроенная)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Для школьного проекта в Termux лучше всего подходит SQLite.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Почему: Она не требует установки отдельного сервера (как MySQL), а хранится в виде одного файла прямо в папке с проектом. Это идеально для ресурсов смартфона.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1">
            <a:extLst>
              <a:ext uri="{FF2B5EF4-FFF2-40B4-BE49-F238E27FC236}">
                <a16:creationId xmlns:a16="http://schemas.microsoft.com/office/drawing/2014/main" id="{240103C1-C45E-446F-99D3-7AFD4FE26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" y="5555723"/>
            <a:ext cx="12198350" cy="15850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9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Полезные дополнения для Termux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Чтобы бот не выключался, когда вы закрываете приложение:</a:t>
            </a:r>
            <a:endParaRPr kumimoji="0" lang="ru-RU" altLang="ru-RU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Termux-API: Позволяет боту получать доступ к функциям телефона (например, уровню заряда батареи).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pkg install termux-api</a:t>
            </a:r>
            <a:endParaRPr kumimoji="0" lang="ru-RU" altLang="ru-RU" sz="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Wake Lock: Функция внутри Termux (вызывается через шторку уведомлений), которая не дает системе Android «усыпить» процесс бота при выключенном экране.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124;p24"/>
          <p:cNvSpPr/>
          <p:nvPr/>
        </p:nvSpPr>
        <p:spPr>
          <a:xfrm>
            <a:off x="3700080" y="-217080"/>
            <a:ext cx="5224320" cy="870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90000"/>
              </a:lnSpc>
              <a:tabLst>
                <a:tab pos="0" algn="l"/>
              </a:tabLst>
            </a:pPr>
            <a:endParaRPr lang="ru-RU" sz="32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42" name="Google Shape;125;p24"/>
          <p:cNvSpPr/>
          <p:nvPr/>
        </p:nvSpPr>
        <p:spPr>
          <a:xfrm>
            <a:off x="159370" y="896040"/>
            <a:ext cx="6445080" cy="37304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Разработанный чат-бот успешно решает поставленные задачи: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Централизованное хранение расписания и ДЗ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Упрощение коммуникации "учитель-ученик-родитель"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Автоматизация рутинных процессов</a:t>
            </a:r>
          </a:p>
          <a:p>
            <a:pPr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Ключевые преимущества: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Простота использования через Telegram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Кроссплатформенность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Нулевая стоимость для пользователей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Легкость масштабирования</a:t>
            </a:r>
          </a:p>
          <a:p>
            <a:pPr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Перспективы развития: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Интеграция с электронным дневником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Добавление системы оценок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Календарь школьных событий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600" i="0" dirty="0">
                <a:effectLst/>
                <a:latin typeface="quote-cjk-patch"/>
              </a:rPr>
              <a:t>Аналитика успеваемости</a:t>
            </a:r>
          </a:p>
        </p:txBody>
      </p:sp>
      <p:sp>
        <p:nvSpPr>
          <p:cNvPr id="43" name="Google Shape;126;p24"/>
          <p:cNvSpPr/>
          <p:nvPr/>
        </p:nvSpPr>
        <p:spPr>
          <a:xfrm>
            <a:off x="335520" y="218520"/>
            <a:ext cx="6445080" cy="677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ru-RU" sz="3200" b="1" u="none" strike="noStrike" dirty="0">
                <a:effectLst/>
                <a:uFillTx/>
                <a:latin typeface="Arial"/>
                <a:ea typeface="Arial"/>
              </a:rPr>
              <a:t>Выводы</a:t>
            </a:r>
            <a:endParaRPr lang="ru-RU" sz="32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45" name="Прямоугольник 1"/>
          <p:cNvSpPr/>
          <p:nvPr/>
        </p:nvSpPr>
        <p:spPr>
          <a:xfrm>
            <a:off x="-2463875" y="4927065"/>
            <a:ext cx="10368720" cy="49554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687400" indent="457200">
              <a:lnSpc>
                <a:spcPct val="150000"/>
              </a:lnSpc>
              <a:tabLst>
                <a:tab pos="0" algn="l"/>
              </a:tabLst>
            </a:pPr>
            <a:r>
              <a:rPr lang="en-US" sz="2000" b="0" u="none" strike="noStrike" dirty="0">
                <a:effectLst/>
                <a:uFillTx/>
                <a:latin typeface="Arial"/>
              </a:rPr>
              <a:t>https://github.com/o2547817-sketch/project</a:t>
            </a:r>
            <a:endParaRPr lang="ru-RU" sz="2000" b="0" u="none" strike="noStrike" dirty="0">
              <a:effectLst/>
              <a:uFillTx/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031B-DBD6-4A61-9717-07B3DAD2F237}"/>
              </a:ext>
            </a:extLst>
          </p:cNvPr>
          <p:cNvSpPr txBox="1"/>
          <p:nvPr/>
        </p:nvSpPr>
        <p:spPr>
          <a:xfrm>
            <a:off x="6203950" y="896040"/>
            <a:ext cx="59880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effectLst/>
                <a:latin typeface="quote-cjk-patch"/>
              </a:rPr>
              <a:t>Проект доказал свою эффективность и может быть внедрен в любой школе для цифровизации учебного процесса и повышения организованности всех участников.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Words>746</Words>
  <Application>Microsoft Office PowerPoint</Application>
  <PresentationFormat>Widescreen</PresentationFormat>
  <Paragraphs>98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Arial Unicode MS</vt:lpstr>
      <vt:lpstr>quote-cjk-patch</vt:lpstr>
      <vt:lpstr>Symbol</vt:lpstr>
      <vt:lpstr>Tahoma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Алгоритм работы программы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pupil</dc:creator>
  <dc:description/>
  <cp:lastModifiedBy>Евгений Бекасов</cp:lastModifiedBy>
  <cp:revision>11</cp:revision>
  <cp:lastPrinted>2025-12-26T13:04:31Z</cp:lastPrinted>
  <dcterms:created xsi:type="dcterms:W3CDTF">2025-02-19T13:56:14Z</dcterms:created>
  <dcterms:modified xsi:type="dcterms:W3CDTF">2026-02-06T17:58:15Z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12</vt:i4>
  </property>
</Properties>
</file>