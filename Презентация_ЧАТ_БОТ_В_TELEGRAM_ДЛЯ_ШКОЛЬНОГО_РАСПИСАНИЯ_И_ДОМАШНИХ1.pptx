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4" r:id="rId5"/>
    <p:sldId id="265" r:id="rId6"/>
    <p:sldId id="268" r:id="rId7"/>
    <p:sldId id="260" r:id="rId8"/>
    <p:sldId id="261" r:id="rId9"/>
    <p:sldId id="267" r:id="rId10"/>
  </p:sldIdLst>
  <p:sldSz cx="12192000" cy="6858000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914" y="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8760" y="272520"/>
            <a:ext cx="10971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buNone/>
            </a:pPr>
            <a:r>
              <a:rPr lang="ru-RU" sz="3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8760" y="272520"/>
            <a:ext cx="10971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indent="0">
              <a:buNone/>
            </a:pPr>
            <a:r>
              <a:rPr lang="ru-RU" sz="37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8760" y="160380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1;p15"/>
          <p:cNvSpPr/>
          <p:nvPr/>
        </p:nvSpPr>
        <p:spPr>
          <a:xfrm>
            <a:off x="5834160" y="2407320"/>
            <a:ext cx="5006880" cy="7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000" b="1" u="none" strike="noStrike">
                <a:solidFill>
                  <a:srgbClr val="FFFFFF"/>
                </a:solidFill>
                <a:effectLst/>
                <a:uFillTx/>
                <a:latin typeface="Tahoma"/>
                <a:ea typeface="Tahoma"/>
              </a:rPr>
              <a:t>Лимонадный аппарат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Google Shape;62;p15"/>
          <p:cNvSpPr/>
          <p:nvPr/>
        </p:nvSpPr>
        <p:spPr>
          <a:xfrm>
            <a:off x="5834160" y="3488040"/>
            <a:ext cx="6850440" cy="336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-RU" sz="22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Авторы проекта: </a:t>
            </a:r>
            <a:endParaRPr lang="ru-RU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ru-RU" sz="2200" dirty="0">
                <a:solidFill>
                  <a:schemeClr val="dk1"/>
                </a:solidFill>
                <a:latin typeface="Arial"/>
                <a:ea typeface="Arial"/>
              </a:rPr>
              <a:t>«</a:t>
            </a:r>
            <a:r>
              <a:rPr lang="en-US" sz="2200" dirty="0">
                <a:solidFill>
                  <a:schemeClr val="dk1"/>
                </a:solidFill>
                <a:latin typeface="Arial"/>
                <a:ea typeface="Arial"/>
              </a:rPr>
              <a:t>8</a:t>
            </a:r>
            <a:r>
              <a:rPr lang="ru-RU" sz="2200" dirty="0">
                <a:solidFill>
                  <a:schemeClr val="dk1"/>
                </a:solidFill>
                <a:latin typeface="Arial"/>
                <a:ea typeface="Arial"/>
              </a:rPr>
              <a:t>Д»</a:t>
            </a:r>
            <a:r>
              <a:rPr lang="ru-RU" sz="2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класс ГБОУ Школа №618</a:t>
            </a:r>
            <a:endParaRPr lang="ru-RU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ru-RU" sz="2000" dirty="0">
                <a:latin typeface="quote-cjk-patch"/>
              </a:rPr>
              <a:t>Нураков Данакер </a:t>
            </a:r>
          </a:p>
          <a:p>
            <a:r>
              <a:rPr lang="ru-RU" sz="2000" dirty="0">
                <a:latin typeface="quote-cjk-patch"/>
              </a:rPr>
              <a:t>Мирзоян Рубен </a:t>
            </a:r>
          </a:p>
          <a:p>
            <a:r>
              <a:rPr lang="ru-RU" sz="2000" dirty="0">
                <a:latin typeface="quote-cjk-patch"/>
              </a:rPr>
              <a:t>Бекасов Евгений</a:t>
            </a:r>
            <a:r>
              <a:rPr sz="1800" dirty="0"/>
              <a:t/>
            </a:r>
            <a:br>
              <a:rPr sz="1800" dirty="0"/>
            </a:br>
            <a:r>
              <a:rPr lang="ru-RU" sz="22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Руководитель проекта: </a:t>
            </a:r>
            <a:r>
              <a:rPr sz="1800" dirty="0"/>
              <a:t/>
            </a:r>
            <a:br>
              <a:rPr sz="1800" dirty="0"/>
            </a:br>
            <a:r>
              <a:rPr lang="ru-RU" sz="2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учитель информатики ГБОУ Школа №618 </a:t>
            </a:r>
            <a:r>
              <a:rPr sz="1800" dirty="0"/>
              <a:t/>
            </a:r>
            <a:br>
              <a:rPr sz="1800" dirty="0"/>
            </a:br>
            <a:r>
              <a:rPr lang="ru-RU" sz="2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Баранов Михаил Сергеевич	</a:t>
            </a:r>
            <a:endParaRPr lang="ru-RU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Google Shape;63;p15"/>
          <p:cNvSpPr/>
          <p:nvPr/>
        </p:nvSpPr>
        <p:spPr>
          <a:xfrm>
            <a:off x="392040" y="4710960"/>
            <a:ext cx="5442120" cy="21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2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Консультант проекта: </a:t>
            </a:r>
            <a:r>
              <a:rPr sz="1800" dirty="0"/>
              <a:t/>
            </a:r>
            <a:br>
              <a:rPr sz="1800" dirty="0"/>
            </a:br>
            <a:r>
              <a:rPr lang="ru-RU" sz="2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учебный мастер Детский технопарк </a:t>
            </a:r>
            <a:r>
              <a:rPr sz="1800" dirty="0"/>
              <a:t/>
            </a:r>
            <a:br>
              <a:rPr sz="1800" dirty="0"/>
            </a:br>
            <a:r>
              <a:rPr lang="ru-RU" sz="2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“СМАРТ-ПАРК” НИУ МИЭТ</a:t>
            </a:r>
            <a:endParaRPr lang="ru-RU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2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Курбатов Матвей Анатольев</a:t>
            </a:r>
            <a:r>
              <a:rPr lang="ru-RU" sz="2200" b="0" u="none" strike="noStrike" dirty="0">
                <a:solidFill>
                  <a:schemeClr val="dk1"/>
                </a:solidFill>
                <a:effectLst/>
                <a:uFillTx/>
                <a:latin typeface="Tahoma"/>
                <a:ea typeface="Tahoma"/>
              </a:rPr>
              <a:t>ич</a:t>
            </a:r>
            <a:endParaRPr lang="ru-RU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Рисунок 5"/>
          <p:cNvPicPr/>
          <p:nvPr/>
        </p:nvPicPr>
        <p:blipFill>
          <a:blip r:embed="rId2"/>
          <a:stretch/>
        </p:blipFill>
        <p:spPr>
          <a:xfrm>
            <a:off x="618480" y="254160"/>
            <a:ext cx="1249560" cy="1237320"/>
          </a:xfrm>
          <a:prstGeom prst="rect">
            <a:avLst/>
          </a:prstGeom>
        </p:spPr>
      </p:pic>
      <p:sp>
        <p:nvSpPr>
          <p:cNvPr id="8" name="Прямоугольник 1"/>
          <p:cNvSpPr/>
          <p:nvPr/>
        </p:nvSpPr>
        <p:spPr>
          <a:xfrm>
            <a:off x="2351520" y="376560"/>
            <a:ext cx="7992360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/>
            <a:r>
              <a:rPr lang="ru-RU" sz="20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Государственное бюджетное общеобразовательное учреждение города Москвы «Школа № 618» </a:t>
            </a:r>
            <a:endParaRPr lang="ru-RU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Box 7"/>
          <p:cNvSpPr/>
          <p:nvPr/>
        </p:nvSpPr>
        <p:spPr>
          <a:xfrm>
            <a:off x="1243440" y="1701000"/>
            <a:ext cx="8798040" cy="9526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799"/>
              </a:spcAft>
            </a:pPr>
            <a:r>
              <a:rPr lang="ru-RU" sz="2800" b="1" dirty="0"/>
              <a:t>ЧАТ-БОТ В </a:t>
            </a:r>
            <a:r>
              <a:rPr lang="en-US" sz="2800" b="1" dirty="0"/>
              <a:t>TELEGRAM</a:t>
            </a:r>
            <a:r>
              <a:rPr lang="ru-RU" sz="2800" b="1" dirty="0"/>
              <a:t> ДЛЯ ШКОЛЬНОГО РАСПИСАНИЯ И ДОМАШНИХ ЗАДАНИЙ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68;p16"/>
          <p:cNvSpPr/>
          <p:nvPr/>
        </p:nvSpPr>
        <p:spPr>
          <a:xfrm>
            <a:off x="407519" y="-101881"/>
            <a:ext cx="10971720" cy="151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6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Актуальность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Google Shape;69;p16"/>
          <p:cNvSpPr/>
          <p:nvPr/>
        </p:nvSpPr>
        <p:spPr>
          <a:xfrm>
            <a:off x="407519" y="1409759"/>
            <a:ext cx="11287175" cy="39162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/>
              <a:t>В современном учебном процессе ученики часто сталкиваются с потерей информации о домашних заданиях в чатах и на листочках, сложностью отслеживания изменений в расписании, а также отсутствием единого места для учебных материалов. Родители также испытывают трудности из-за неполной информированности об учебном процессе и зависимости от сообщений ребенка. Решением этих проблем является создание единой автоматизированной системы в привычном мессенджере.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3;p18"/>
          <p:cNvSpPr/>
          <p:nvPr/>
        </p:nvSpPr>
        <p:spPr>
          <a:xfrm>
            <a:off x="217080" y="3122640"/>
            <a:ext cx="12312360" cy="462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Проанализировать аналоги, представленные на рынке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Разработать архитектуру и схему работы бота.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Хранение и отображение расписания.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Ведение списка домашних заданий.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Создать интуитивно понятный интерфейс.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Обеспечить разный уровень доступа (ученик/учитель/родитель).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ru-RU" sz="2000" dirty="0"/>
              <a:t>Протестировать работу всех функций.</a:t>
            </a:r>
          </a:p>
          <a:p>
            <a:pPr marL="457200" indent="-457200">
              <a:lnSpc>
                <a:spcPct val="114000"/>
              </a:lnSpc>
              <a:buClr>
                <a:srgbClr val="000000"/>
              </a:buClr>
              <a:buFont typeface="Arial"/>
              <a:buAutoNum type="arabicPeriod"/>
            </a:pPr>
            <a:endParaRPr lang="ru-RU" sz="20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19" name="Google Shape;84;p18"/>
          <p:cNvSpPr/>
          <p:nvPr/>
        </p:nvSpPr>
        <p:spPr>
          <a:xfrm>
            <a:off x="384120" y="908640"/>
            <a:ext cx="11423160" cy="13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b="0" i="0" dirty="0">
                <a:effectLst/>
                <a:latin typeface="quote-cjk-patch"/>
              </a:rPr>
              <a:t>Создать удобный и функциональный Telegram-бот для автоматизации доступа к школьному расписанию и домашним заданиям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ru-RU" sz="18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20" name="Google Shape;85;p18"/>
          <p:cNvSpPr/>
          <p:nvPr/>
        </p:nvSpPr>
        <p:spPr>
          <a:xfrm>
            <a:off x="3458520" y="227160"/>
            <a:ext cx="4789080" cy="87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-RU" sz="36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Цель: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Google Shape;86;p18"/>
          <p:cNvSpPr/>
          <p:nvPr/>
        </p:nvSpPr>
        <p:spPr>
          <a:xfrm>
            <a:off x="5007600" y="2400840"/>
            <a:ext cx="2176560" cy="117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6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Задачи: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109;p22"/>
          <p:cNvSpPr/>
          <p:nvPr/>
        </p:nvSpPr>
        <p:spPr>
          <a:xfrm>
            <a:off x="241560" y="5076360"/>
            <a:ext cx="13270680" cy="133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34" name="Google Shape;111;p22"/>
          <p:cNvSpPr/>
          <p:nvPr/>
        </p:nvSpPr>
        <p:spPr>
          <a:xfrm>
            <a:off x="499916" y="229264"/>
            <a:ext cx="7843984" cy="94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600" b="1" u="none" strike="noStrike" dirty="0" smtClean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Сравнение аналогов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224653"/>
              </p:ext>
            </p:extLst>
          </p:nvPr>
        </p:nvGraphicFramePr>
        <p:xfrm>
          <a:off x="499917" y="888023"/>
          <a:ext cx="11387283" cy="467689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3795761">
                  <a:extLst>
                    <a:ext uri="{9D8B030D-6E8A-4147-A177-3AD203B41FA5}">
                      <a16:colId xmlns:a16="http://schemas.microsoft.com/office/drawing/2014/main" val="3635106064"/>
                    </a:ext>
                  </a:extLst>
                </a:gridCol>
                <a:gridCol w="3364148">
                  <a:extLst>
                    <a:ext uri="{9D8B030D-6E8A-4147-A177-3AD203B41FA5}">
                      <a16:colId xmlns:a16="http://schemas.microsoft.com/office/drawing/2014/main" val="3955391558"/>
                    </a:ext>
                  </a:extLst>
                </a:gridCol>
                <a:gridCol w="4227374">
                  <a:extLst>
                    <a:ext uri="{9D8B030D-6E8A-4147-A177-3AD203B41FA5}">
                      <a16:colId xmlns:a16="http://schemas.microsoft.com/office/drawing/2014/main" val="2718103905"/>
                    </a:ext>
                  </a:extLst>
                </a:gridCol>
              </a:tblGrid>
              <a:tr h="101925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Критерий</a:t>
                      </a:r>
                      <a:endParaRPr lang="ru-RU" dirty="0"/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/>
                        <a:t> </a:t>
                      </a:r>
                      <a:endParaRPr lang="ru-RU" b="1" dirty="0"/>
                    </a:p>
                  </a:txBody>
                  <a:tcPr marL="49447" marR="49447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Аналоги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электронные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дневники</a:t>
                      </a:r>
                      <a:r>
                        <a:rPr lang="en-US" dirty="0"/>
                        <a:t>, </a:t>
                      </a:r>
                      <a:r>
                        <a:rPr lang="en-US" dirty="0" err="1"/>
                        <a:t>чаты</a:t>
                      </a:r>
                      <a:r>
                        <a:rPr lang="en-US" dirty="0"/>
                        <a:t>)</a:t>
                      </a:r>
                      <a:endParaRPr lang="ru-RU" dirty="0"/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/>
                        <a:t> </a:t>
                      </a:r>
                      <a:endParaRPr lang="ru-RU" b="1" dirty="0"/>
                    </a:p>
                  </a:txBody>
                  <a:tcPr marL="49447" marR="49447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Наш</a:t>
                      </a:r>
                      <a:r>
                        <a:rPr lang="en-US" dirty="0"/>
                        <a:t> Telegram-</a:t>
                      </a:r>
                      <a:r>
                        <a:rPr lang="en-US" dirty="0" err="1"/>
                        <a:t>бот</a:t>
                      </a:r>
                      <a:endParaRPr lang="ru-RU" dirty="0"/>
                    </a:p>
                    <a:p>
                      <a:pPr indent="0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/>
                        <a:t> </a:t>
                      </a:r>
                      <a:endParaRPr lang="ru-RU" b="1" dirty="0"/>
                    </a:p>
                  </a:txBody>
                  <a:tcPr marL="49447" marR="49447" marT="0" marB="0" anchor="ctr"/>
                </a:tc>
                <a:extLst>
                  <a:ext uri="{0D108BD9-81ED-4DB2-BD59-A6C34878D82A}">
                    <a16:rowId xmlns:a16="http://schemas.microsoft.com/office/drawing/2014/main" val="1349895239"/>
                  </a:ext>
                </a:extLst>
              </a:tr>
              <a:tr h="65812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Доступность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Требует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отдельного</a:t>
                      </a:r>
                      <a:r>
                        <a:rPr lang="en-US" dirty="0"/>
                        <a:t> </a:t>
                      </a:r>
                      <a:r>
                        <a:rPr lang="en-US" dirty="0" err="1" smtClean="0"/>
                        <a:t>приложения</a:t>
                      </a:r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входа</a:t>
                      </a:r>
                      <a:endParaRPr lang="ru-RU" dirty="0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Работает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прямо</a:t>
                      </a:r>
                      <a:r>
                        <a:rPr lang="en-US" dirty="0"/>
                        <a:t> в Telegram </a:t>
                      </a:r>
                      <a:endParaRPr lang="ru-RU" dirty="0"/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890787034"/>
                  </a:ext>
                </a:extLst>
              </a:tr>
              <a:tr h="420366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Удобство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использования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Сложный</a:t>
                      </a:r>
                      <a:r>
                        <a:rPr lang="en-US" dirty="0"/>
                        <a:t> </a:t>
                      </a:r>
                      <a:r>
                        <a:rPr lang="en-US" dirty="0" err="1" smtClean="0"/>
                        <a:t>интерфейс</a:t>
                      </a:r>
                      <a:endParaRPr lang="ru-RU" dirty="0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Простой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интуитивный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интерфейс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2164151339"/>
                  </a:ext>
                </a:extLst>
              </a:tr>
              <a:tr h="632129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Уведомления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Ограничены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или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отсутствуют</a:t>
                      </a:r>
                      <a:r>
                        <a:rPr lang="en-US" dirty="0"/>
                        <a:t>  </a:t>
                      </a:r>
                      <a:endParaRPr lang="ru-RU" dirty="0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Автоматические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напоминания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2089744153"/>
                  </a:ext>
                </a:extLst>
              </a:tr>
              <a:tr h="43689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/>
                        <a:t>Хранение ДЗ и расписания </a:t>
                      </a:r>
                      <a:endParaRPr lang="ru-RU"/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/>
                        <a:t> </a:t>
                      </a:r>
                      <a:endParaRPr lang="ru-RU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/>
                        <a:t>Разрозненно </a:t>
                      </a:r>
                      <a:endParaRPr lang="ru-RU"/>
                    </a:p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/>
                        <a:t> </a:t>
                      </a:r>
                      <a:endParaRPr lang="ru-RU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Централизованная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база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данных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/>
                        <a:t> </a:t>
                      </a:r>
                      <a:endParaRPr lang="ru-RU" dirty="0"/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1105135055"/>
                  </a:ext>
                </a:extLst>
              </a:tr>
              <a:tr h="670345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Бесплатность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для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пользователей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Часто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платные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или</a:t>
                      </a:r>
                      <a:r>
                        <a:rPr lang="en-US" dirty="0"/>
                        <a:t> с </a:t>
                      </a:r>
                      <a:r>
                        <a:rPr lang="en-US" dirty="0" err="1"/>
                        <a:t>ограничениями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Полностью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бесплатен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2793642023"/>
                  </a:ext>
                </a:extLst>
              </a:tr>
              <a:tr h="728037"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 err="1"/>
                        <a:t>Мобильность</a:t>
                      </a:r>
                      <a:r>
                        <a:rPr lang="en-US" dirty="0"/>
                        <a:t> </a:t>
                      </a:r>
                      <a:endParaRPr lang="ru-RU" dirty="0"/>
                    </a:p>
                    <a:p>
                      <a:pPr indent="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dirty="0"/>
                        <a:t> </a:t>
                      </a:r>
                      <a:endParaRPr lang="ru-RU" dirty="0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/>
                        <a:t>Зависит от приложения </a:t>
                      </a:r>
                      <a:endParaRPr lang="ru-RU"/>
                    </a:p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/>
                        <a:t> </a:t>
                      </a:r>
                      <a:endParaRPr lang="ru-RU"/>
                    </a:p>
                  </a:txBody>
                  <a:tcPr marL="49447" marR="49447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dirty="0"/>
                        <a:t>Доступен на любом устройстве с </a:t>
                      </a:r>
                      <a:r>
                        <a:rPr lang="en-US" dirty="0" smtClean="0"/>
                        <a:t>Telegram</a:t>
                      </a:r>
                      <a:r>
                        <a:rPr lang="ru-RU" dirty="0"/>
                        <a:t> </a:t>
                      </a:r>
                    </a:p>
                  </a:txBody>
                  <a:tcPr marL="49447" marR="49447" marT="0" marB="0"/>
                </a:tc>
                <a:extLst>
                  <a:ext uri="{0D108BD9-81ED-4DB2-BD59-A6C34878D82A}">
                    <a16:rowId xmlns:a16="http://schemas.microsoft.com/office/drawing/2014/main" val="27074000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16;p23"/>
          <p:cNvSpPr/>
          <p:nvPr/>
        </p:nvSpPr>
        <p:spPr>
          <a:xfrm>
            <a:off x="682920" y="344020"/>
            <a:ext cx="8925480" cy="117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ru-RU" sz="36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Описание проекта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117;p23"/>
          <p:cNvSpPr/>
          <p:nvPr/>
        </p:nvSpPr>
        <p:spPr>
          <a:xfrm>
            <a:off x="682920" y="1339920"/>
            <a:ext cx="11064580" cy="6441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/>
              <a:t>Разработанный </a:t>
            </a:r>
            <a:r>
              <a:rPr lang="ru-RU" sz="2000" dirty="0" err="1"/>
              <a:t>Telegram</a:t>
            </a:r>
            <a:r>
              <a:rPr lang="ru-RU" sz="2000" dirty="0"/>
              <a:t>-бот для школьного расписания и домашних заданий представляет собой программное решение, предназначенное для автоматизации доступа учеников, учителей и родителей к учебной информации через популярный мессенджер </a:t>
            </a:r>
            <a:r>
              <a:rPr lang="ru-RU" sz="2000" dirty="0" err="1"/>
              <a:t>Telegram</a:t>
            </a:r>
            <a:r>
              <a:rPr lang="ru-RU" sz="2000" dirty="0"/>
              <a:t>. Бот функционирует как интерактивный помощник, который централизованно хранит, обрабатывает и предоставляет данные о расписании уроков и домашних заданиях.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8760" y="272520"/>
            <a:ext cx="10971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36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Алгоритм работы программы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713" y="1295399"/>
            <a:ext cx="3266576" cy="5203825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1295399"/>
            <a:ext cx="2476014" cy="543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00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8760" y="272520"/>
            <a:ext cx="109710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ru-RU" sz="3600" b="1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Алгоритм</a:t>
            </a:r>
            <a:r>
              <a:rPr lang="ru-RU" sz="3600" b="0" u="none" strike="noStrike" dirty="0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работы программы</a:t>
            </a:r>
            <a:endParaRPr lang="ru-RU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040" y="1270635"/>
            <a:ext cx="1819275" cy="31623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594" y="1270635"/>
            <a:ext cx="3443391" cy="549846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7474" y="1270635"/>
            <a:ext cx="3740914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91;p19"/>
          <p:cNvSpPr/>
          <p:nvPr/>
        </p:nvSpPr>
        <p:spPr>
          <a:xfrm>
            <a:off x="508320" y="208080"/>
            <a:ext cx="12017880" cy="11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6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Интерфейс программы</a:t>
            </a:r>
            <a:endParaRPr lang="ru-RU" sz="3600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A6C9FC-ABE0-453C-9ADB-5D7CFB196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295" y="1395364"/>
            <a:ext cx="2595977" cy="49927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5250B1-ECD9-4D22-956F-DA8ED64FD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997" y="1395359"/>
            <a:ext cx="2595979" cy="49927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33AFCA-8B15-4CB5-87D1-15C8532EE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700" y="1395359"/>
            <a:ext cx="2595100" cy="49910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3EF298-38E8-4486-B614-E0FD26EF0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591" y="1395359"/>
            <a:ext cx="2595978" cy="49927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24;p24"/>
          <p:cNvSpPr/>
          <p:nvPr/>
        </p:nvSpPr>
        <p:spPr>
          <a:xfrm>
            <a:off x="3700080" y="-217080"/>
            <a:ext cx="5224320" cy="87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  <a:tabLst>
                <a:tab pos="0" algn="l"/>
              </a:tabLst>
            </a:pPr>
            <a:endParaRPr lang="ru-RU" sz="32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43" name="Google Shape;126;p24"/>
          <p:cNvSpPr/>
          <p:nvPr/>
        </p:nvSpPr>
        <p:spPr>
          <a:xfrm>
            <a:off x="335520" y="218520"/>
            <a:ext cx="6445080" cy="7386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3600" b="1" u="none" strike="noStrike" dirty="0">
                <a:effectLst/>
                <a:uFillTx/>
                <a:latin typeface="Arial"/>
                <a:ea typeface="Arial"/>
              </a:rPr>
              <a:t>Выводы</a:t>
            </a:r>
            <a:endParaRPr lang="ru-RU" sz="36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45" name="Прямоугольник 1"/>
          <p:cNvSpPr/>
          <p:nvPr/>
        </p:nvSpPr>
        <p:spPr>
          <a:xfrm>
            <a:off x="335519" y="4927065"/>
            <a:ext cx="7569325" cy="9572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2000" b="0" u="none" strike="noStrike" dirty="0" smtClean="0">
                <a:effectLst/>
                <a:uFillTx/>
                <a:latin typeface="Arial"/>
              </a:rPr>
              <a:t>Ссылка на </a:t>
            </a:r>
            <a:r>
              <a:rPr lang="ru-RU" sz="2000" b="0" u="none" strike="noStrike" dirty="0" err="1" smtClean="0">
                <a:effectLst/>
                <a:uFillTx/>
                <a:latin typeface="Arial"/>
              </a:rPr>
              <a:t>репозиторий</a:t>
            </a:r>
            <a:r>
              <a:rPr lang="ru-RU" sz="2000" b="0" u="none" strike="noStrike" dirty="0" smtClean="0">
                <a:effectLst/>
                <a:uFillTx/>
                <a:latin typeface="Arial"/>
              </a:rPr>
              <a:t>: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2000" b="0" u="none" strike="noStrike" dirty="0" smtClean="0">
                <a:effectLst/>
                <a:uFillTx/>
                <a:latin typeface="Arial"/>
              </a:rPr>
              <a:t>https</a:t>
            </a:r>
            <a:r>
              <a:rPr lang="en-US" sz="2000" b="0" u="none" strike="noStrike" dirty="0">
                <a:effectLst/>
                <a:uFillTx/>
                <a:latin typeface="Arial"/>
              </a:rPr>
              <a:t>://github.com/o2547817-sketch/project</a:t>
            </a:r>
            <a:endParaRPr lang="ru-RU" sz="2000" b="0" u="none" strike="noStrike" dirty="0">
              <a:effectLst/>
              <a:uFillTx/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B4031B-DBD6-4A61-9717-07B3DAD2F237}"/>
              </a:ext>
            </a:extLst>
          </p:cNvPr>
          <p:cNvSpPr txBox="1"/>
          <p:nvPr/>
        </p:nvSpPr>
        <p:spPr>
          <a:xfrm>
            <a:off x="335520" y="1177900"/>
            <a:ext cx="11856480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/>
              <a:t>Разработанный чат-бот успешно решает поставленные задачи: обеспечивает централизованное хранение расписания и домашних заданий, упрощает коммуникацию между учителями, учениками и родителями, а также автоматизирует рутинные процессы. Бот протестирован и готов к использованию в учебном процессе.</a:t>
            </a:r>
          </a:p>
        </p:txBody>
      </p:sp>
      <p:pic>
        <p:nvPicPr>
          <p:cNvPr id="2050" name="Picture 2" descr="http://qrcoder.ru/code/?https%3A%2F%2Fgithub.com%2Fo2547817-sketch%2Fproject&amp;4&amp;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4844" y="2528212"/>
            <a:ext cx="4287156" cy="4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Words>334</Words>
  <Application>Microsoft Office PowerPoint</Application>
  <PresentationFormat>Широкоэкранный</PresentationFormat>
  <Paragraphs>61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quote-cjk-patch</vt:lpstr>
      <vt:lpstr>Symbol</vt:lpstr>
      <vt:lpstr>Tahoma</vt:lpstr>
      <vt:lpstr>Wingdings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Алгоритм работы программы</vt:lpstr>
      <vt:lpstr>Алгоритм работы программы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pupil</dc:creator>
  <dc:description/>
  <cp:lastModifiedBy>Михаил Баранов</cp:lastModifiedBy>
  <cp:revision>14</cp:revision>
  <cp:lastPrinted>2025-12-26T13:04:31Z</cp:lastPrinted>
  <dcterms:created xsi:type="dcterms:W3CDTF">2025-02-19T13:56:14Z</dcterms:created>
  <dcterms:modified xsi:type="dcterms:W3CDTF">2026-02-08T11:20:51Z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Широкоэкранный</vt:lpwstr>
  </property>
  <property fmtid="{D5CDD505-2E9C-101B-9397-08002B2CF9AE}" pid="4" name="Slides">
    <vt:i4>12</vt:i4>
  </property>
</Properties>
</file>